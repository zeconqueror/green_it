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charset="1" panose="00000500000000000000"/>
      <p:regular r:id="rId14"/>
    </p:embeddedFont>
    <p:embeddedFont>
      <p:font typeface="Open Sauce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0"/>
            <a:ext cx="7994211" cy="10532904"/>
            <a:chOff x="0" y="0"/>
            <a:chExt cx="2704214" cy="3562982"/>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704214" cy="3562983"/>
            </a:xfrm>
            <a:custGeom>
              <a:avLst/>
              <a:gdLst/>
              <a:ahLst/>
              <a:cxnLst/>
              <a:rect r="r" b="b" t="t" l="l"/>
              <a:pathLst>
                <a:path h="3562983" w="2704214">
                  <a:moveTo>
                    <a:pt x="0" y="0"/>
                  </a:moveTo>
                  <a:lnTo>
                    <a:pt x="2704214" y="0"/>
                  </a:lnTo>
                  <a:lnTo>
                    <a:pt x="2704214" y="3562983"/>
                  </a:lnTo>
                  <a:lnTo>
                    <a:pt x="0" y="3562983"/>
                  </a:lnTo>
                  <a:close/>
                </a:path>
              </a:pathLst>
            </a:custGeom>
            <a:solidFill>
              <a:srgbClr val="266041"/>
            </a:solidFill>
          </p:spPr>
        </p:sp>
      </p:grpSp>
      <p:sp>
        <p:nvSpPr>
          <p:cNvPr name="Freeform 5" id="5"/>
          <p:cNvSpPr/>
          <p:nvPr/>
        </p:nvSpPr>
        <p:spPr>
          <a:xfrm flipH="false" flipV="false" rot="0">
            <a:off x="1773663" y="1028700"/>
            <a:ext cx="744963" cy="744963"/>
          </a:xfrm>
          <a:custGeom>
            <a:avLst/>
            <a:gdLst/>
            <a:ahLst/>
            <a:cxnLst/>
            <a:rect r="r" b="b" t="t" l="l"/>
            <a:pathLst>
              <a:path h="744963" w="744963">
                <a:moveTo>
                  <a:pt x="0" y="0"/>
                </a:moveTo>
                <a:lnTo>
                  <a:pt x="744964" y="0"/>
                </a:lnTo>
                <a:lnTo>
                  <a:pt x="744964" y="744963"/>
                </a:lnTo>
                <a:lnTo>
                  <a:pt x="0" y="7449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682348" y="1200172"/>
            <a:ext cx="2600489" cy="422231"/>
          </a:xfrm>
          <a:prstGeom prst="rect">
            <a:avLst/>
          </a:prstGeom>
        </p:spPr>
        <p:txBody>
          <a:bodyPr anchor="t" rtlCol="false" tIns="0" lIns="0" bIns="0" rIns="0">
            <a:spAutoFit/>
          </a:bodyPr>
          <a:lstStyle/>
          <a:p>
            <a:pPr algn="l">
              <a:lnSpc>
                <a:spcPts val="3500"/>
              </a:lnSpc>
            </a:pPr>
            <a:r>
              <a:rPr lang="en-US" sz="2500">
                <a:solidFill>
                  <a:srgbClr val="FFFFFF"/>
                </a:solidFill>
                <a:latin typeface="Open Sauce"/>
                <a:ea typeface="Open Sauce"/>
                <a:cs typeface="Open Sauce"/>
                <a:sym typeface="Open Sauce"/>
              </a:rPr>
              <a:t>Green IT</a:t>
            </a:r>
          </a:p>
        </p:txBody>
      </p:sp>
      <p:sp>
        <p:nvSpPr>
          <p:cNvPr name="TextBox 7" id="7"/>
          <p:cNvSpPr txBox="true"/>
          <p:nvPr/>
        </p:nvSpPr>
        <p:spPr>
          <a:xfrm rot="0">
            <a:off x="1535056" y="4704083"/>
            <a:ext cx="6981498" cy="1633322"/>
          </a:xfrm>
          <a:prstGeom prst="rect">
            <a:avLst/>
          </a:prstGeom>
        </p:spPr>
        <p:txBody>
          <a:bodyPr anchor="t" rtlCol="false" tIns="0" lIns="0" bIns="0" rIns="0">
            <a:spAutoFit/>
          </a:bodyPr>
          <a:lstStyle/>
          <a:p>
            <a:pPr algn="l">
              <a:lnSpc>
                <a:spcPts val="13365"/>
              </a:lnSpc>
            </a:pPr>
            <a:r>
              <a:rPr lang="en-US" sz="9547" b="true">
                <a:solidFill>
                  <a:srgbClr val="FFFFFF"/>
                </a:solidFill>
                <a:latin typeface="Open Sauce Bold"/>
                <a:ea typeface="Open Sauce Bold"/>
                <a:cs typeface="Open Sauce Bold"/>
                <a:sym typeface="Open Sauce Bold"/>
              </a:rPr>
              <a:t>Compar’AI</a:t>
            </a:r>
          </a:p>
        </p:txBody>
      </p:sp>
      <p:sp>
        <p:nvSpPr>
          <p:cNvPr name="TextBox 8" id="8"/>
          <p:cNvSpPr txBox="true"/>
          <p:nvPr/>
        </p:nvSpPr>
        <p:spPr>
          <a:xfrm rot="0">
            <a:off x="1573156" y="3854345"/>
            <a:ext cx="2011608" cy="865481"/>
          </a:xfrm>
          <a:prstGeom prst="rect">
            <a:avLst/>
          </a:prstGeom>
        </p:spPr>
        <p:txBody>
          <a:bodyPr anchor="t" rtlCol="false" tIns="0" lIns="0" bIns="0" rIns="0">
            <a:spAutoFit/>
          </a:bodyPr>
          <a:lstStyle/>
          <a:p>
            <a:pPr algn="l">
              <a:lnSpc>
                <a:spcPts val="7117"/>
              </a:lnSpc>
              <a:spcBef>
                <a:spcPct val="0"/>
              </a:spcBef>
            </a:pPr>
            <a:r>
              <a:rPr lang="en-US" sz="5084">
                <a:solidFill>
                  <a:srgbClr val="FFFFFF"/>
                </a:solidFill>
                <a:latin typeface="Open Sauce"/>
                <a:ea typeface="Open Sauce"/>
                <a:cs typeface="Open Sauce"/>
                <a:sym typeface="Open Sauce"/>
              </a:rPr>
              <a:t>TP 1</a:t>
            </a:r>
          </a:p>
        </p:txBody>
      </p:sp>
      <p:sp>
        <p:nvSpPr>
          <p:cNvPr name="TextBox 9" id="9"/>
          <p:cNvSpPr txBox="true"/>
          <p:nvPr/>
        </p:nvSpPr>
        <p:spPr>
          <a:xfrm rot="0">
            <a:off x="1773663" y="8623405"/>
            <a:ext cx="4405564" cy="1033218"/>
          </a:xfrm>
          <a:prstGeom prst="rect">
            <a:avLst/>
          </a:prstGeom>
        </p:spPr>
        <p:txBody>
          <a:bodyPr anchor="t" rtlCol="false" tIns="0" lIns="0" bIns="0" rIns="0">
            <a:spAutoFit/>
          </a:bodyPr>
          <a:lstStyle/>
          <a:p>
            <a:pPr algn="l">
              <a:lnSpc>
                <a:spcPts val="2828"/>
              </a:lnSpc>
            </a:pPr>
            <a:r>
              <a:rPr lang="en-US" sz="2020" spc="40">
                <a:solidFill>
                  <a:srgbClr val="FFFFFF"/>
                </a:solidFill>
                <a:latin typeface="Open Sauce"/>
                <a:ea typeface="Open Sauce"/>
                <a:cs typeface="Open Sauce"/>
                <a:sym typeface="Open Sauce"/>
              </a:rPr>
              <a:t>Presented by</a:t>
            </a:r>
          </a:p>
          <a:p>
            <a:pPr algn="l">
              <a:lnSpc>
                <a:spcPts val="2828"/>
              </a:lnSpc>
            </a:pPr>
            <a:r>
              <a:rPr lang="en-US" sz="2020" spc="40">
                <a:solidFill>
                  <a:srgbClr val="FFFFFF"/>
                </a:solidFill>
                <a:latin typeface="Open Sauce"/>
                <a:ea typeface="Open Sauce"/>
                <a:cs typeface="Open Sauce"/>
                <a:sym typeface="Open Sauce"/>
              </a:rPr>
              <a:t>Elseline Zonon </a:t>
            </a:r>
          </a:p>
          <a:p>
            <a:pPr algn="l" marL="0" indent="0" lvl="0">
              <a:lnSpc>
                <a:spcPts val="2828"/>
              </a:lnSpc>
              <a:spcBef>
                <a:spcPct val="0"/>
              </a:spcBef>
            </a:pPr>
            <a:r>
              <a:rPr lang="en-US" sz="2020" spc="40">
                <a:solidFill>
                  <a:srgbClr val="FFFFFF"/>
                </a:solidFill>
                <a:latin typeface="Open Sauce"/>
                <a:ea typeface="Open Sauce"/>
                <a:cs typeface="Open Sauce"/>
                <a:sym typeface="Open Sauce"/>
              </a:rPr>
              <a:t>Sivasankar BHUSARAM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979322"/>
            <a:ext cx="18477077" cy="3342771"/>
            <a:chOff x="0" y="0"/>
            <a:chExt cx="8493842" cy="1536659"/>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8493842" cy="1536659"/>
            </a:xfrm>
            <a:custGeom>
              <a:avLst/>
              <a:gdLst/>
              <a:ahLst/>
              <a:cxnLst/>
              <a:rect r="r" b="b" t="t" l="l"/>
              <a:pathLst>
                <a:path h="1536659" w="8493842">
                  <a:moveTo>
                    <a:pt x="0" y="0"/>
                  </a:moveTo>
                  <a:lnTo>
                    <a:pt x="8493842" y="0"/>
                  </a:lnTo>
                  <a:lnTo>
                    <a:pt x="8493842" y="1536659"/>
                  </a:lnTo>
                  <a:lnTo>
                    <a:pt x="0" y="1536659"/>
                  </a:lnTo>
                  <a:close/>
                </a:path>
              </a:pathLst>
            </a:custGeom>
            <a:solidFill>
              <a:srgbClr val="266041"/>
            </a:solidFill>
          </p:spPr>
        </p:sp>
      </p:grpSp>
      <p:sp>
        <p:nvSpPr>
          <p:cNvPr name="Freeform 4" id="4"/>
          <p:cNvSpPr/>
          <p:nvPr/>
        </p:nvSpPr>
        <p:spPr>
          <a:xfrm flipH="false" flipV="false" rot="0">
            <a:off x="2086317" y="242315"/>
            <a:ext cx="14304443" cy="3951602"/>
          </a:xfrm>
          <a:custGeom>
            <a:avLst/>
            <a:gdLst/>
            <a:ahLst/>
            <a:cxnLst/>
            <a:rect r="r" b="b" t="t" l="l"/>
            <a:pathLst>
              <a:path h="3951602" w="14304443">
                <a:moveTo>
                  <a:pt x="0" y="0"/>
                </a:moveTo>
                <a:lnTo>
                  <a:pt x="14304443" y="0"/>
                </a:lnTo>
                <a:lnTo>
                  <a:pt x="14304443" y="3951602"/>
                </a:lnTo>
                <a:lnTo>
                  <a:pt x="0" y="3951602"/>
                </a:lnTo>
                <a:lnTo>
                  <a:pt x="0" y="0"/>
                </a:lnTo>
                <a:close/>
              </a:path>
            </a:pathLst>
          </a:custGeom>
          <a:blipFill>
            <a:blip r:embed="rId2"/>
            <a:stretch>
              <a:fillRect l="0" t="0" r="0" b="0"/>
            </a:stretch>
          </a:blipFill>
        </p:spPr>
      </p:sp>
      <p:sp>
        <p:nvSpPr>
          <p:cNvPr name="Freeform 5" id="5"/>
          <p:cNvSpPr/>
          <p:nvPr/>
        </p:nvSpPr>
        <p:spPr>
          <a:xfrm flipH="false" flipV="false" rot="0">
            <a:off x="2086317" y="4108192"/>
            <a:ext cx="14304443" cy="3844319"/>
          </a:xfrm>
          <a:custGeom>
            <a:avLst/>
            <a:gdLst/>
            <a:ahLst/>
            <a:cxnLst/>
            <a:rect r="r" b="b" t="t" l="l"/>
            <a:pathLst>
              <a:path h="3844319" w="14304443">
                <a:moveTo>
                  <a:pt x="0" y="0"/>
                </a:moveTo>
                <a:lnTo>
                  <a:pt x="14304443" y="0"/>
                </a:lnTo>
                <a:lnTo>
                  <a:pt x="14304443" y="3844319"/>
                </a:lnTo>
                <a:lnTo>
                  <a:pt x="0" y="3844319"/>
                </a:lnTo>
                <a:lnTo>
                  <a:pt x="0" y="0"/>
                </a:lnTo>
                <a:close/>
              </a:path>
            </a:pathLst>
          </a:custGeom>
          <a:blipFill>
            <a:blip r:embed="rId3"/>
            <a:stretch>
              <a:fillRect l="0" t="0" r="0" b="0"/>
            </a:stretch>
          </a:blipFill>
        </p:spPr>
      </p:sp>
      <p:sp>
        <p:nvSpPr>
          <p:cNvPr name="TextBox 6" id="6"/>
          <p:cNvSpPr txBox="true"/>
          <p:nvPr/>
        </p:nvSpPr>
        <p:spPr>
          <a:xfrm rot="0">
            <a:off x="693866" y="8408123"/>
            <a:ext cx="4993523" cy="689019"/>
          </a:xfrm>
          <a:prstGeom prst="rect">
            <a:avLst/>
          </a:prstGeom>
        </p:spPr>
        <p:txBody>
          <a:bodyPr anchor="t" rtlCol="false" tIns="0" lIns="0" bIns="0" rIns="0">
            <a:spAutoFit/>
          </a:bodyPr>
          <a:lstStyle/>
          <a:p>
            <a:pPr algn="l">
              <a:lnSpc>
                <a:spcPts val="5600"/>
              </a:lnSpc>
            </a:pPr>
            <a:r>
              <a:rPr lang="en-US" sz="4000" b="true">
                <a:solidFill>
                  <a:srgbClr val="FFFFFF"/>
                </a:solidFill>
                <a:latin typeface="Open Sauce Bold"/>
                <a:ea typeface="Open Sauce Bold"/>
                <a:cs typeface="Open Sauce Bold"/>
                <a:sym typeface="Open Sauce Bold"/>
              </a:rPr>
              <a:t>General view</a:t>
            </a:r>
          </a:p>
        </p:txBody>
      </p:sp>
      <p:sp>
        <p:nvSpPr>
          <p:cNvPr name="TextBox 7" id="7"/>
          <p:cNvSpPr txBox="true"/>
          <p:nvPr/>
        </p:nvSpPr>
        <p:spPr>
          <a:xfrm rot="0">
            <a:off x="722441" y="8162153"/>
            <a:ext cx="4993523" cy="350253"/>
          </a:xfrm>
          <a:prstGeom prst="rect">
            <a:avLst/>
          </a:prstGeom>
        </p:spPr>
        <p:txBody>
          <a:bodyPr anchor="t" rtlCol="false" tIns="0" lIns="0" bIns="0" rIns="0">
            <a:spAutoFit/>
          </a:bodyPr>
          <a:lstStyle/>
          <a:p>
            <a:pPr algn="l">
              <a:lnSpc>
                <a:spcPts val="2884"/>
              </a:lnSpc>
              <a:spcBef>
                <a:spcPct val="0"/>
              </a:spcBef>
            </a:pPr>
            <a:r>
              <a:rPr lang="en-US" sz="2060">
                <a:solidFill>
                  <a:srgbClr val="FFFFFF"/>
                </a:solidFill>
                <a:latin typeface="Open Sauce"/>
                <a:ea typeface="Open Sauce"/>
                <a:cs typeface="Open Sauce"/>
                <a:sym typeface="Open Sauce"/>
              </a:rPr>
              <a:t>View by model - category</a:t>
            </a:r>
          </a:p>
        </p:txBody>
      </p:sp>
      <p:sp>
        <p:nvSpPr>
          <p:cNvPr name="TextBox 8" id="8"/>
          <p:cNvSpPr txBox="true"/>
          <p:nvPr/>
        </p:nvSpPr>
        <p:spPr>
          <a:xfrm rot="0">
            <a:off x="693866" y="9158095"/>
            <a:ext cx="13842807" cy="274304"/>
          </a:xfrm>
          <a:prstGeom prst="rect">
            <a:avLst/>
          </a:prstGeom>
        </p:spPr>
        <p:txBody>
          <a:bodyPr anchor="t" rtlCol="false" tIns="0" lIns="0" bIns="0" rIns="0">
            <a:spAutoFit/>
          </a:bodyPr>
          <a:lstStyle/>
          <a:p>
            <a:pPr algn="l" marL="0" indent="0" lvl="0">
              <a:lnSpc>
                <a:spcPts val="2208"/>
              </a:lnSpc>
              <a:spcBef>
                <a:spcPct val="0"/>
              </a:spcBef>
            </a:pPr>
            <a:r>
              <a:rPr lang="en-US" sz="1577" spc="31">
                <a:solidFill>
                  <a:srgbClr val="FFFFFF"/>
                </a:solidFill>
                <a:latin typeface="Open Sauce"/>
                <a:ea typeface="Open Sauce"/>
                <a:cs typeface="Open Sauce"/>
                <a:sym typeface="Open Sauce"/>
              </a:rPr>
              <a:t>Here we can see the different average quality, electricity consumption , average CO2 and average inference time per model category.</a:t>
            </a:r>
          </a:p>
        </p:txBody>
      </p:sp>
      <p:sp>
        <p:nvSpPr>
          <p:cNvPr name="TextBox 9" id="9"/>
          <p:cNvSpPr txBox="true"/>
          <p:nvPr/>
        </p:nvSpPr>
        <p:spPr>
          <a:xfrm rot="0">
            <a:off x="684341" y="9499074"/>
            <a:ext cx="17217250" cy="550573"/>
          </a:xfrm>
          <a:prstGeom prst="rect">
            <a:avLst/>
          </a:prstGeom>
        </p:spPr>
        <p:txBody>
          <a:bodyPr anchor="t" rtlCol="false" tIns="0" lIns="0" bIns="0" rIns="0">
            <a:spAutoFit/>
          </a:bodyPr>
          <a:lstStyle/>
          <a:p>
            <a:pPr algn="l" marL="0" indent="0" lvl="0">
              <a:lnSpc>
                <a:spcPts val="2208"/>
              </a:lnSpc>
              <a:spcBef>
                <a:spcPct val="0"/>
              </a:spcBef>
            </a:pPr>
            <a:r>
              <a:rPr lang="en-US" sz="1577" spc="31">
                <a:solidFill>
                  <a:srgbClr val="FFFFFF"/>
                </a:solidFill>
                <a:latin typeface="Open Sauce"/>
                <a:ea typeface="Open Sauce"/>
                <a:cs typeface="Open Sauce"/>
                <a:sym typeface="Open Sauce"/>
              </a:rPr>
              <a:t>The visualization shows that Medium models combine quality, speed, and low energy impact, Small models are very efficient but slightly less powerful, and Large models offer high quality at the cost of high energy and CO₂ consumption.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190636"/>
            <a:ext cx="18477077" cy="3342771"/>
            <a:chOff x="0" y="0"/>
            <a:chExt cx="8493842" cy="1536659"/>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8493842" cy="1536659"/>
            </a:xfrm>
            <a:custGeom>
              <a:avLst/>
              <a:gdLst/>
              <a:ahLst/>
              <a:cxnLst/>
              <a:rect r="r" b="b" t="t" l="l"/>
              <a:pathLst>
                <a:path h="1536659" w="8493842">
                  <a:moveTo>
                    <a:pt x="0" y="0"/>
                  </a:moveTo>
                  <a:lnTo>
                    <a:pt x="8493842" y="0"/>
                  </a:lnTo>
                  <a:lnTo>
                    <a:pt x="8493842" y="1536659"/>
                  </a:lnTo>
                  <a:lnTo>
                    <a:pt x="0" y="1536659"/>
                  </a:lnTo>
                  <a:close/>
                </a:path>
              </a:pathLst>
            </a:custGeom>
            <a:solidFill>
              <a:srgbClr val="266041"/>
            </a:solidFill>
          </p:spPr>
        </p:sp>
      </p:grpSp>
      <p:sp>
        <p:nvSpPr>
          <p:cNvPr name="Freeform 4" id="4"/>
          <p:cNvSpPr/>
          <p:nvPr/>
        </p:nvSpPr>
        <p:spPr>
          <a:xfrm flipH="false" flipV="false" rot="0">
            <a:off x="1841166" y="254139"/>
            <a:ext cx="14605669" cy="3797474"/>
          </a:xfrm>
          <a:custGeom>
            <a:avLst/>
            <a:gdLst/>
            <a:ahLst/>
            <a:cxnLst/>
            <a:rect r="r" b="b" t="t" l="l"/>
            <a:pathLst>
              <a:path h="3797474" w="14605669">
                <a:moveTo>
                  <a:pt x="0" y="0"/>
                </a:moveTo>
                <a:lnTo>
                  <a:pt x="14605668" y="0"/>
                </a:lnTo>
                <a:lnTo>
                  <a:pt x="14605668" y="3797474"/>
                </a:lnTo>
                <a:lnTo>
                  <a:pt x="0" y="3797474"/>
                </a:lnTo>
                <a:lnTo>
                  <a:pt x="0" y="0"/>
                </a:lnTo>
                <a:close/>
              </a:path>
            </a:pathLst>
          </a:custGeom>
          <a:blipFill>
            <a:blip r:embed="rId2"/>
            <a:stretch>
              <a:fillRect l="0" t="0" r="0" b="0"/>
            </a:stretch>
          </a:blipFill>
        </p:spPr>
      </p:sp>
      <p:sp>
        <p:nvSpPr>
          <p:cNvPr name="Freeform 5" id="5"/>
          <p:cNvSpPr/>
          <p:nvPr/>
        </p:nvSpPr>
        <p:spPr>
          <a:xfrm flipH="false" flipV="false" rot="0">
            <a:off x="1779073" y="4185639"/>
            <a:ext cx="14729854" cy="3995473"/>
          </a:xfrm>
          <a:custGeom>
            <a:avLst/>
            <a:gdLst/>
            <a:ahLst/>
            <a:cxnLst/>
            <a:rect r="r" b="b" t="t" l="l"/>
            <a:pathLst>
              <a:path h="3995473" w="14729854">
                <a:moveTo>
                  <a:pt x="0" y="0"/>
                </a:moveTo>
                <a:lnTo>
                  <a:pt x="14729854" y="0"/>
                </a:lnTo>
                <a:lnTo>
                  <a:pt x="14729854" y="3995472"/>
                </a:lnTo>
                <a:lnTo>
                  <a:pt x="0" y="3995472"/>
                </a:lnTo>
                <a:lnTo>
                  <a:pt x="0" y="0"/>
                </a:lnTo>
                <a:close/>
              </a:path>
            </a:pathLst>
          </a:custGeom>
          <a:blipFill>
            <a:blip r:embed="rId3"/>
            <a:stretch>
              <a:fillRect l="0" t="0" r="0" b="0"/>
            </a:stretch>
          </a:blipFill>
        </p:spPr>
      </p:sp>
      <p:sp>
        <p:nvSpPr>
          <p:cNvPr name="TextBox 6" id="6"/>
          <p:cNvSpPr txBox="true"/>
          <p:nvPr/>
        </p:nvSpPr>
        <p:spPr>
          <a:xfrm rot="0">
            <a:off x="693866" y="8597856"/>
            <a:ext cx="4993523" cy="689019"/>
          </a:xfrm>
          <a:prstGeom prst="rect">
            <a:avLst/>
          </a:prstGeom>
        </p:spPr>
        <p:txBody>
          <a:bodyPr anchor="t" rtlCol="false" tIns="0" lIns="0" bIns="0" rIns="0">
            <a:spAutoFit/>
          </a:bodyPr>
          <a:lstStyle/>
          <a:p>
            <a:pPr algn="l">
              <a:lnSpc>
                <a:spcPts val="5600"/>
              </a:lnSpc>
            </a:pPr>
            <a:r>
              <a:rPr lang="en-US" sz="4000" b="true">
                <a:solidFill>
                  <a:srgbClr val="FFFFFF"/>
                </a:solidFill>
                <a:latin typeface="Open Sauce Bold"/>
                <a:ea typeface="Open Sauce Bold"/>
                <a:cs typeface="Open Sauce Bold"/>
                <a:sym typeface="Open Sauce Bold"/>
              </a:rPr>
              <a:t>General view</a:t>
            </a:r>
          </a:p>
        </p:txBody>
      </p:sp>
      <p:sp>
        <p:nvSpPr>
          <p:cNvPr name="TextBox 7" id="7"/>
          <p:cNvSpPr txBox="true"/>
          <p:nvPr/>
        </p:nvSpPr>
        <p:spPr>
          <a:xfrm rot="0">
            <a:off x="722441" y="8351886"/>
            <a:ext cx="4993523" cy="350253"/>
          </a:xfrm>
          <a:prstGeom prst="rect">
            <a:avLst/>
          </a:prstGeom>
        </p:spPr>
        <p:txBody>
          <a:bodyPr anchor="t" rtlCol="false" tIns="0" lIns="0" bIns="0" rIns="0">
            <a:spAutoFit/>
          </a:bodyPr>
          <a:lstStyle/>
          <a:p>
            <a:pPr algn="l">
              <a:lnSpc>
                <a:spcPts val="2884"/>
              </a:lnSpc>
              <a:spcBef>
                <a:spcPct val="0"/>
              </a:spcBef>
            </a:pPr>
            <a:r>
              <a:rPr lang="en-US" sz="2060">
                <a:solidFill>
                  <a:srgbClr val="FFFFFF"/>
                </a:solidFill>
                <a:latin typeface="Open Sauce"/>
                <a:ea typeface="Open Sauce"/>
                <a:cs typeface="Open Sauce"/>
                <a:sym typeface="Open Sauce"/>
              </a:rPr>
              <a:t>View by model - category</a:t>
            </a:r>
          </a:p>
        </p:txBody>
      </p:sp>
      <p:sp>
        <p:nvSpPr>
          <p:cNvPr name="TextBox 8" id="8"/>
          <p:cNvSpPr txBox="true"/>
          <p:nvPr/>
        </p:nvSpPr>
        <p:spPr>
          <a:xfrm rot="0">
            <a:off x="693866" y="9220200"/>
            <a:ext cx="13842807" cy="826842"/>
          </a:xfrm>
          <a:prstGeom prst="rect">
            <a:avLst/>
          </a:prstGeom>
        </p:spPr>
        <p:txBody>
          <a:bodyPr anchor="t" rtlCol="false" tIns="0" lIns="0" bIns="0" rIns="0">
            <a:spAutoFit/>
          </a:bodyPr>
          <a:lstStyle/>
          <a:p>
            <a:pPr algn="l">
              <a:lnSpc>
                <a:spcPts val="2208"/>
              </a:lnSpc>
            </a:pPr>
            <a:r>
              <a:rPr lang="en-US" sz="1577" spc="31">
                <a:solidFill>
                  <a:srgbClr val="FFFFFF"/>
                </a:solidFill>
                <a:latin typeface="Open Sauce"/>
                <a:ea typeface="Open Sauce"/>
                <a:cs typeface="Open Sauce"/>
                <a:sym typeface="Open Sauce"/>
              </a:rPr>
              <a:t>Here we can see the different average quality, electricity consumption , average CO2 and average inference time per model category.</a:t>
            </a:r>
          </a:p>
          <a:p>
            <a:pPr algn="l">
              <a:lnSpc>
                <a:spcPts val="2208"/>
              </a:lnSpc>
            </a:pPr>
          </a:p>
          <a:p>
            <a:pPr algn="l" marL="0" indent="0" lvl="0">
              <a:lnSpc>
                <a:spcPts val="2208"/>
              </a:lnSpc>
              <a:spcBef>
                <a:spcPct val="0"/>
              </a:spcBef>
            </a:pPr>
            <a:r>
              <a:rPr lang="en-US" sz="1577" spc="31">
                <a:solidFill>
                  <a:srgbClr val="FFFFFF"/>
                </a:solidFill>
                <a:latin typeface="Open Sauce"/>
                <a:ea typeface="Open Sauce"/>
                <a:cs typeface="Open Sauce"/>
                <a:sym typeface="Open Sauce"/>
              </a:rPr>
              <a:t>Deepseek proves to be the most resource-intensive while offering quality.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86437" y="4454868"/>
            <a:ext cx="13715126" cy="5588914"/>
          </a:xfrm>
          <a:custGeom>
            <a:avLst/>
            <a:gdLst/>
            <a:ahLst/>
            <a:cxnLst/>
            <a:rect r="r" b="b" t="t" l="l"/>
            <a:pathLst>
              <a:path h="5588914" w="13715126">
                <a:moveTo>
                  <a:pt x="0" y="0"/>
                </a:moveTo>
                <a:lnTo>
                  <a:pt x="13715126" y="0"/>
                </a:lnTo>
                <a:lnTo>
                  <a:pt x="13715126" y="5588914"/>
                </a:lnTo>
                <a:lnTo>
                  <a:pt x="0" y="5588914"/>
                </a:lnTo>
                <a:lnTo>
                  <a:pt x="0" y="0"/>
                </a:lnTo>
                <a:close/>
              </a:path>
            </a:pathLst>
          </a:custGeom>
          <a:blipFill>
            <a:blip r:embed="rId2"/>
            <a:stretch>
              <a:fillRect l="0" t="0" r="0" b="0"/>
            </a:stretch>
          </a:blipFill>
        </p:spPr>
      </p:sp>
      <p:sp>
        <p:nvSpPr>
          <p:cNvPr name="TextBox 3" id="3"/>
          <p:cNvSpPr txBox="true"/>
          <p:nvPr/>
        </p:nvSpPr>
        <p:spPr>
          <a:xfrm rot="0">
            <a:off x="1773663" y="2379053"/>
            <a:ext cx="4626154" cy="2228303"/>
          </a:xfrm>
          <a:prstGeom prst="rect">
            <a:avLst/>
          </a:prstGeom>
        </p:spPr>
        <p:txBody>
          <a:bodyPr anchor="t" rtlCol="false" tIns="0" lIns="0" bIns="0" rIns="0">
            <a:spAutoFit/>
          </a:bodyPr>
          <a:lstStyle/>
          <a:p>
            <a:pPr algn="l">
              <a:lnSpc>
                <a:spcPts val="8959"/>
              </a:lnSpc>
            </a:pPr>
            <a:r>
              <a:rPr lang="en-US" sz="6399" b="true">
                <a:solidFill>
                  <a:srgbClr val="1A3B29"/>
                </a:solidFill>
                <a:latin typeface="Open Sauce Bold"/>
                <a:ea typeface="Open Sauce Bold"/>
                <a:cs typeface="Open Sauce Bold"/>
                <a:sym typeface="Open Sauce Bold"/>
              </a:rPr>
              <a:t>General </a:t>
            </a:r>
          </a:p>
          <a:p>
            <a:pPr algn="l">
              <a:lnSpc>
                <a:spcPts val="8960"/>
              </a:lnSpc>
            </a:pPr>
            <a:r>
              <a:rPr lang="en-US" sz="6400" b="true">
                <a:solidFill>
                  <a:srgbClr val="1A3B29"/>
                </a:solidFill>
                <a:latin typeface="Open Sauce Bold"/>
                <a:ea typeface="Open Sauce Bold"/>
                <a:cs typeface="Open Sauce Bold"/>
                <a:sym typeface="Open Sauce Bold"/>
              </a:rPr>
              <a:t>view</a:t>
            </a:r>
          </a:p>
        </p:txBody>
      </p:sp>
      <p:sp>
        <p:nvSpPr>
          <p:cNvPr name="TextBox 4" id="4"/>
          <p:cNvSpPr txBox="true"/>
          <p:nvPr/>
        </p:nvSpPr>
        <p:spPr>
          <a:xfrm rot="0">
            <a:off x="8663111" y="2178926"/>
            <a:ext cx="8596189" cy="989965"/>
          </a:xfrm>
          <a:prstGeom prst="rect">
            <a:avLst/>
          </a:prstGeom>
        </p:spPr>
        <p:txBody>
          <a:bodyPr anchor="t" rtlCol="false" tIns="0" lIns="0" bIns="0" rIns="0">
            <a:spAutoFit/>
          </a:bodyPr>
          <a:lstStyle/>
          <a:p>
            <a:pPr algn="l">
              <a:lnSpc>
                <a:spcPts val="2659"/>
              </a:lnSpc>
            </a:pPr>
            <a:r>
              <a:rPr lang="en-US" sz="1899" spc="37">
                <a:solidFill>
                  <a:srgbClr val="1A3B29"/>
                </a:solidFill>
                <a:latin typeface="Open Sauce"/>
                <a:ea typeface="Open Sauce"/>
                <a:cs typeface="Open Sauce"/>
                <a:sym typeface="Open Sauce"/>
              </a:rPr>
              <a:t>Th</a:t>
            </a:r>
            <a:r>
              <a:rPr lang="en-US" sz="1899" spc="37">
                <a:solidFill>
                  <a:srgbClr val="1A3B29"/>
                </a:solidFill>
                <a:latin typeface="Open Sauce"/>
                <a:ea typeface="Open Sauce"/>
                <a:cs typeface="Open Sauce"/>
                <a:sym typeface="Open Sauce"/>
              </a:rPr>
              <a:t>e visualization shows that Medium</a:t>
            </a:r>
            <a:r>
              <a:rPr lang="en-US" sz="1899" spc="37" u="none">
                <a:solidFill>
                  <a:srgbClr val="1A3B29"/>
                </a:solidFill>
                <a:latin typeface="Open Sauce"/>
                <a:ea typeface="Open Sauce"/>
                <a:cs typeface="Open Sauce"/>
                <a:sym typeface="Open Sauce"/>
              </a:rPr>
              <a:t> models offer the best compromise between average response quality and inference time, while Large models are slower without a proportional gain in quality.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16263865" cy="6769834"/>
          </a:xfrm>
          <a:custGeom>
            <a:avLst/>
            <a:gdLst/>
            <a:ahLst/>
            <a:cxnLst/>
            <a:rect r="r" b="b" t="t" l="l"/>
            <a:pathLst>
              <a:path h="6769834" w="16263865">
                <a:moveTo>
                  <a:pt x="0" y="0"/>
                </a:moveTo>
                <a:lnTo>
                  <a:pt x="16263865" y="0"/>
                </a:lnTo>
                <a:lnTo>
                  <a:pt x="16263865" y="6769834"/>
                </a:lnTo>
                <a:lnTo>
                  <a:pt x="0" y="6769834"/>
                </a:lnTo>
                <a:lnTo>
                  <a:pt x="0" y="0"/>
                </a:lnTo>
                <a:close/>
              </a:path>
            </a:pathLst>
          </a:custGeom>
          <a:blipFill>
            <a:blip r:embed="rId2"/>
            <a:stretch>
              <a:fillRect l="0" t="0" r="0" b="0"/>
            </a:stretch>
          </a:blipFill>
        </p:spPr>
      </p:sp>
      <p:sp>
        <p:nvSpPr>
          <p:cNvPr name="TextBox 3" id="3"/>
          <p:cNvSpPr txBox="true"/>
          <p:nvPr/>
        </p:nvSpPr>
        <p:spPr>
          <a:xfrm rot="0">
            <a:off x="1028700" y="7912205"/>
            <a:ext cx="16263865" cy="550573"/>
          </a:xfrm>
          <a:prstGeom prst="rect">
            <a:avLst/>
          </a:prstGeom>
        </p:spPr>
        <p:txBody>
          <a:bodyPr anchor="t" rtlCol="false" tIns="0" lIns="0" bIns="0" rIns="0">
            <a:spAutoFit/>
          </a:bodyPr>
          <a:lstStyle/>
          <a:p>
            <a:pPr algn="l" marL="0" indent="0" lvl="0">
              <a:lnSpc>
                <a:spcPts val="2208"/>
              </a:lnSpc>
              <a:spcBef>
                <a:spcPct val="0"/>
              </a:spcBef>
            </a:pPr>
            <a:r>
              <a:rPr lang="en-US" sz="1577" spc="31">
                <a:solidFill>
                  <a:srgbClr val="000000"/>
                </a:solidFill>
                <a:latin typeface="Open Sauce"/>
                <a:ea typeface="Open Sauce"/>
                <a:cs typeface="Open Sauce"/>
                <a:sym typeface="Open Sauce"/>
              </a:rPr>
              <a:t>The</a:t>
            </a:r>
            <a:r>
              <a:rPr lang="en-US" sz="1577" spc="31" strike="noStrike" u="none">
                <a:solidFill>
                  <a:srgbClr val="000000"/>
                </a:solidFill>
                <a:latin typeface="Open Sauce"/>
                <a:ea typeface="Open Sauce"/>
                <a:cs typeface="Open Sauce"/>
                <a:sym typeface="Open Sauce"/>
              </a:rPr>
              <a:t> visuali</a:t>
            </a:r>
            <a:r>
              <a:rPr lang="en-US" sz="1577" spc="31" strike="noStrike" u="none">
                <a:solidFill>
                  <a:srgbClr val="000000"/>
                </a:solidFill>
                <a:latin typeface="Open Sauce"/>
                <a:ea typeface="Open Sauce"/>
                <a:cs typeface="Open Sauce"/>
                <a:sym typeface="Open Sauce"/>
              </a:rPr>
              <a:t>z</a:t>
            </a:r>
            <a:r>
              <a:rPr lang="en-US" sz="1577" spc="31" strike="noStrike" u="none">
                <a:solidFill>
                  <a:srgbClr val="000000"/>
                </a:solidFill>
                <a:latin typeface="Open Sauce"/>
                <a:ea typeface="Open Sauce"/>
                <a:cs typeface="Open Sauce"/>
                <a:sym typeface="Open Sauce"/>
              </a:rPr>
              <a:t>ation </a:t>
            </a:r>
            <a:r>
              <a:rPr lang="en-US" sz="1577" spc="31" strike="noStrike" u="none">
                <a:solidFill>
                  <a:srgbClr val="000000"/>
                </a:solidFill>
                <a:latin typeface="Open Sauce"/>
                <a:ea typeface="Open Sauce"/>
                <a:cs typeface="Open Sauce"/>
                <a:sym typeface="Open Sauce"/>
              </a:rPr>
              <a:t>sh</a:t>
            </a:r>
            <a:r>
              <a:rPr lang="en-US" sz="1577" spc="31" strike="noStrike" u="none">
                <a:solidFill>
                  <a:srgbClr val="000000"/>
                </a:solidFill>
                <a:latin typeface="Open Sauce"/>
                <a:ea typeface="Open Sauce"/>
                <a:cs typeface="Open Sauce"/>
                <a:sym typeface="Open Sauce"/>
              </a:rPr>
              <a:t>o</a:t>
            </a:r>
            <a:r>
              <a:rPr lang="en-US" sz="1577" spc="31" strike="noStrike" u="none">
                <a:solidFill>
                  <a:srgbClr val="000000"/>
                </a:solidFill>
                <a:latin typeface="Open Sauce"/>
                <a:ea typeface="Open Sauce"/>
                <a:cs typeface="Open Sauce"/>
                <a:sym typeface="Open Sauce"/>
              </a:rPr>
              <a:t>ws tha</a:t>
            </a:r>
            <a:r>
              <a:rPr lang="en-US" sz="1577" spc="31" strike="noStrike" u="none">
                <a:solidFill>
                  <a:srgbClr val="000000"/>
                </a:solidFill>
                <a:latin typeface="Open Sauce"/>
                <a:ea typeface="Open Sauce"/>
                <a:cs typeface="Open Sauce"/>
                <a:sym typeface="Open Sauce"/>
              </a:rPr>
              <a:t>t</a:t>
            </a:r>
            <a:r>
              <a:rPr lang="en-US" sz="1577" spc="31" strike="noStrike" u="none">
                <a:solidFill>
                  <a:srgbClr val="000000"/>
                </a:solidFill>
                <a:latin typeface="Open Sauce"/>
                <a:ea typeface="Open Sauce"/>
                <a:cs typeface="Open Sauce"/>
                <a:sym typeface="Open Sauce"/>
              </a:rPr>
              <a:t> ave</a:t>
            </a:r>
            <a:r>
              <a:rPr lang="en-US" sz="1577" spc="31" strike="noStrike" u="none">
                <a:solidFill>
                  <a:srgbClr val="000000"/>
                </a:solidFill>
                <a:latin typeface="Open Sauce"/>
                <a:ea typeface="Open Sauce"/>
                <a:cs typeface="Open Sauce"/>
                <a:sym typeface="Open Sauce"/>
              </a:rPr>
              <a:t>r</a:t>
            </a:r>
            <a:r>
              <a:rPr lang="en-US" sz="1577" spc="31" strike="noStrike" u="none">
                <a:solidFill>
                  <a:srgbClr val="000000"/>
                </a:solidFill>
                <a:latin typeface="Open Sauce"/>
                <a:ea typeface="Open Sauce"/>
                <a:cs typeface="Open Sauce"/>
                <a:sym typeface="Open Sauce"/>
              </a:rPr>
              <a:t>ag</a:t>
            </a:r>
            <a:r>
              <a:rPr lang="en-US" sz="1577" spc="31" strike="noStrike" u="none">
                <a:solidFill>
                  <a:srgbClr val="000000"/>
                </a:solidFill>
                <a:latin typeface="Open Sauce"/>
                <a:ea typeface="Open Sauce"/>
                <a:cs typeface="Open Sauce"/>
                <a:sym typeface="Open Sauce"/>
              </a:rPr>
              <a:t>e </a:t>
            </a:r>
            <a:r>
              <a:rPr lang="en-US" sz="1577" spc="31" strike="noStrike" u="none">
                <a:solidFill>
                  <a:srgbClr val="000000"/>
                </a:solidFill>
                <a:latin typeface="Open Sauce"/>
                <a:ea typeface="Open Sauce"/>
                <a:cs typeface="Open Sauce"/>
                <a:sym typeface="Open Sauce"/>
              </a:rPr>
              <a:t>infer</a:t>
            </a:r>
            <a:r>
              <a:rPr lang="en-US" sz="1577" spc="31" strike="noStrike" u="none">
                <a:solidFill>
                  <a:srgbClr val="000000"/>
                </a:solidFill>
                <a:latin typeface="Open Sauce"/>
                <a:ea typeface="Open Sauce"/>
                <a:cs typeface="Open Sauce"/>
                <a:sym typeface="Open Sauce"/>
              </a:rPr>
              <a:t>e</a:t>
            </a:r>
            <a:r>
              <a:rPr lang="en-US" sz="1577" spc="31" strike="noStrike" u="none">
                <a:solidFill>
                  <a:srgbClr val="000000"/>
                </a:solidFill>
                <a:latin typeface="Open Sauce"/>
                <a:ea typeface="Open Sauce"/>
                <a:cs typeface="Open Sauce"/>
                <a:sym typeface="Open Sauce"/>
              </a:rPr>
              <a:t>nce</a:t>
            </a:r>
            <a:r>
              <a:rPr lang="en-US" sz="1577" spc="31" strike="noStrike" u="none">
                <a:solidFill>
                  <a:srgbClr val="000000"/>
                </a:solidFill>
                <a:latin typeface="Open Sauce"/>
                <a:ea typeface="Open Sauce"/>
                <a:cs typeface="Open Sauce"/>
                <a:sym typeface="Open Sauce"/>
              </a:rPr>
              <a:t> cons</a:t>
            </a:r>
            <a:r>
              <a:rPr lang="en-US" sz="1577" spc="31" strike="noStrike" u="none">
                <a:solidFill>
                  <a:srgbClr val="000000"/>
                </a:solidFill>
                <a:latin typeface="Open Sauce"/>
                <a:ea typeface="Open Sauce"/>
                <a:cs typeface="Open Sauce"/>
                <a:sym typeface="Open Sauce"/>
              </a:rPr>
              <a:t>u</a:t>
            </a:r>
            <a:r>
              <a:rPr lang="en-US" sz="1577" spc="31" strike="noStrike" u="none">
                <a:solidFill>
                  <a:srgbClr val="000000"/>
                </a:solidFill>
                <a:latin typeface="Open Sauce"/>
                <a:ea typeface="Open Sauce"/>
                <a:cs typeface="Open Sauce"/>
                <a:sym typeface="Open Sauce"/>
              </a:rPr>
              <a:t>m</a:t>
            </a:r>
            <a:r>
              <a:rPr lang="en-US" sz="1577" spc="31" strike="noStrike" u="none">
                <a:solidFill>
                  <a:srgbClr val="000000"/>
                </a:solidFill>
                <a:latin typeface="Open Sauce"/>
                <a:ea typeface="Open Sauce"/>
                <a:cs typeface="Open Sauce"/>
                <a:sym typeface="Open Sauce"/>
              </a:rPr>
              <a:t>p</a:t>
            </a:r>
            <a:r>
              <a:rPr lang="en-US" sz="1577" spc="31" strike="noStrike" u="none">
                <a:solidFill>
                  <a:srgbClr val="000000"/>
                </a:solidFill>
                <a:latin typeface="Open Sauce"/>
                <a:ea typeface="Open Sauce"/>
                <a:cs typeface="Open Sauce"/>
                <a:sym typeface="Open Sauce"/>
              </a:rPr>
              <a:t>tion inc</a:t>
            </a:r>
            <a:r>
              <a:rPr lang="en-US" sz="1577" spc="31" strike="noStrike" u="none">
                <a:solidFill>
                  <a:srgbClr val="000000"/>
                </a:solidFill>
                <a:latin typeface="Open Sauce"/>
                <a:ea typeface="Open Sauce"/>
                <a:cs typeface="Open Sauce"/>
                <a:sym typeface="Open Sauce"/>
              </a:rPr>
              <a:t>r</a:t>
            </a:r>
            <a:r>
              <a:rPr lang="en-US" sz="1577" spc="31" strike="noStrike" u="none">
                <a:solidFill>
                  <a:srgbClr val="000000"/>
                </a:solidFill>
                <a:latin typeface="Open Sauce"/>
                <a:ea typeface="Open Sauce"/>
                <a:cs typeface="Open Sauce"/>
                <a:sym typeface="Open Sauce"/>
              </a:rPr>
              <a:t>ea</a:t>
            </a:r>
            <a:r>
              <a:rPr lang="en-US" sz="1577" spc="31" strike="noStrike" u="none">
                <a:solidFill>
                  <a:srgbClr val="000000"/>
                </a:solidFill>
                <a:latin typeface="Open Sauce"/>
                <a:ea typeface="Open Sauce"/>
                <a:cs typeface="Open Sauce"/>
                <a:sym typeface="Open Sauce"/>
              </a:rPr>
              <a:t>s</a:t>
            </a:r>
            <a:r>
              <a:rPr lang="en-US" sz="1577" spc="31" strike="noStrike" u="none">
                <a:solidFill>
                  <a:srgbClr val="000000"/>
                </a:solidFill>
                <a:latin typeface="Open Sauce"/>
                <a:ea typeface="Open Sauce"/>
                <a:cs typeface="Open Sauce"/>
                <a:sym typeface="Open Sauce"/>
              </a:rPr>
              <a:t>e</a:t>
            </a:r>
            <a:r>
              <a:rPr lang="en-US" sz="1577" spc="31" strike="noStrike" u="none">
                <a:solidFill>
                  <a:srgbClr val="000000"/>
                </a:solidFill>
                <a:latin typeface="Open Sauce"/>
                <a:ea typeface="Open Sauce"/>
                <a:cs typeface="Open Sauce"/>
                <a:sym typeface="Open Sauce"/>
              </a:rPr>
              <a:t>s</a:t>
            </a:r>
            <a:r>
              <a:rPr lang="en-US" sz="1577" spc="31" strike="noStrike" u="none">
                <a:solidFill>
                  <a:srgbClr val="000000"/>
                </a:solidFill>
                <a:latin typeface="Open Sauce"/>
                <a:ea typeface="Open Sauce"/>
                <a:cs typeface="Open Sauce"/>
                <a:sym typeface="Open Sauce"/>
              </a:rPr>
              <a:t> </a:t>
            </a:r>
            <a:r>
              <a:rPr lang="en-US" sz="1577" spc="31" strike="noStrike" u="none">
                <a:solidFill>
                  <a:srgbClr val="000000"/>
                </a:solidFill>
                <a:latin typeface="Open Sauce"/>
                <a:ea typeface="Open Sauce"/>
                <a:cs typeface="Open Sauce"/>
                <a:sym typeface="Open Sauce"/>
              </a:rPr>
              <a:t>wi</a:t>
            </a:r>
            <a:r>
              <a:rPr lang="en-US" sz="1577" spc="31" strike="noStrike" u="none">
                <a:solidFill>
                  <a:srgbClr val="000000"/>
                </a:solidFill>
                <a:latin typeface="Open Sauce"/>
                <a:ea typeface="Open Sauce"/>
                <a:cs typeface="Open Sauce"/>
                <a:sym typeface="Open Sauce"/>
              </a:rPr>
              <a:t>t</a:t>
            </a:r>
            <a:r>
              <a:rPr lang="en-US" sz="1577" spc="31" strike="noStrike" u="none">
                <a:solidFill>
                  <a:srgbClr val="000000"/>
                </a:solidFill>
                <a:latin typeface="Open Sauce"/>
                <a:ea typeface="Open Sauce"/>
                <a:cs typeface="Open Sauce"/>
                <a:sym typeface="Open Sauce"/>
              </a:rPr>
              <a:t>h</a:t>
            </a:r>
            <a:r>
              <a:rPr lang="en-US" sz="1577" spc="31" strike="noStrike" u="none">
                <a:solidFill>
                  <a:srgbClr val="000000"/>
                </a:solidFill>
                <a:latin typeface="Open Sauce"/>
                <a:ea typeface="Open Sauce"/>
                <a:cs typeface="Open Sauce"/>
                <a:sym typeface="Open Sauce"/>
              </a:rPr>
              <a:t> mod</a:t>
            </a:r>
            <a:r>
              <a:rPr lang="en-US" sz="1577" spc="31" strike="noStrike" u="none">
                <a:solidFill>
                  <a:srgbClr val="000000"/>
                </a:solidFill>
                <a:latin typeface="Open Sauce"/>
                <a:ea typeface="Open Sauce"/>
                <a:cs typeface="Open Sauce"/>
                <a:sym typeface="Open Sauce"/>
              </a:rPr>
              <a:t>e</a:t>
            </a:r>
            <a:r>
              <a:rPr lang="en-US" sz="1577" spc="31" strike="noStrike" u="none">
                <a:solidFill>
                  <a:srgbClr val="000000"/>
                </a:solidFill>
                <a:latin typeface="Open Sauce"/>
                <a:ea typeface="Open Sauce"/>
                <a:cs typeface="Open Sauce"/>
                <a:sym typeface="Open Sauce"/>
              </a:rPr>
              <a:t>l</a:t>
            </a:r>
            <a:r>
              <a:rPr lang="en-US" sz="1577" spc="31" strike="noStrike" u="none">
                <a:solidFill>
                  <a:srgbClr val="000000"/>
                </a:solidFill>
                <a:latin typeface="Open Sauce"/>
                <a:ea typeface="Open Sauce"/>
                <a:cs typeface="Open Sauce"/>
                <a:sym typeface="Open Sauce"/>
              </a:rPr>
              <a:t> siz</a:t>
            </a:r>
            <a:r>
              <a:rPr lang="en-US" sz="1577" spc="31" strike="noStrike" u="none">
                <a:solidFill>
                  <a:srgbClr val="000000"/>
                </a:solidFill>
                <a:latin typeface="Open Sauce"/>
                <a:ea typeface="Open Sauce"/>
                <a:cs typeface="Open Sauce"/>
                <a:sym typeface="Open Sauce"/>
              </a:rPr>
              <a:t>e, </a:t>
            </a:r>
            <a:r>
              <a:rPr lang="en-US" sz="1577" spc="31" strike="noStrike" u="none">
                <a:solidFill>
                  <a:srgbClr val="000000"/>
                </a:solidFill>
                <a:latin typeface="Open Sauce"/>
                <a:ea typeface="Open Sauce"/>
                <a:cs typeface="Open Sauce"/>
                <a:sym typeface="Open Sauce"/>
              </a:rPr>
              <a:t>bei</a:t>
            </a:r>
            <a:r>
              <a:rPr lang="en-US" sz="1577" spc="31" strike="noStrike" u="none">
                <a:solidFill>
                  <a:srgbClr val="000000"/>
                </a:solidFill>
                <a:latin typeface="Open Sauce"/>
                <a:ea typeface="Open Sauce"/>
                <a:cs typeface="Open Sauce"/>
                <a:sym typeface="Open Sauce"/>
              </a:rPr>
              <a:t>n</a:t>
            </a:r>
            <a:r>
              <a:rPr lang="en-US" sz="1577" spc="31" strike="noStrike" u="none">
                <a:solidFill>
                  <a:srgbClr val="000000"/>
                </a:solidFill>
                <a:latin typeface="Open Sauce"/>
                <a:ea typeface="Open Sauce"/>
                <a:cs typeface="Open Sauce"/>
                <a:sym typeface="Open Sauce"/>
              </a:rPr>
              <a:t>g</a:t>
            </a:r>
            <a:r>
              <a:rPr lang="en-US" sz="1577" spc="31" strike="noStrike" u="none">
                <a:solidFill>
                  <a:srgbClr val="000000"/>
                </a:solidFill>
                <a:latin typeface="Open Sauce"/>
                <a:ea typeface="Open Sauce"/>
                <a:cs typeface="Open Sauce"/>
                <a:sym typeface="Open Sauce"/>
              </a:rPr>
              <a:t> l</a:t>
            </a:r>
            <a:r>
              <a:rPr lang="en-US" sz="1577" spc="31" strike="noStrike" u="none">
                <a:solidFill>
                  <a:srgbClr val="000000"/>
                </a:solidFill>
                <a:latin typeface="Open Sauce"/>
                <a:ea typeface="Open Sauce"/>
                <a:cs typeface="Open Sauce"/>
                <a:sym typeface="Open Sauce"/>
              </a:rPr>
              <a:t>ow</a:t>
            </a:r>
            <a:r>
              <a:rPr lang="en-US" sz="1577" spc="31" strike="noStrike" u="none">
                <a:solidFill>
                  <a:srgbClr val="000000"/>
                </a:solidFill>
                <a:latin typeface="Open Sauce"/>
                <a:ea typeface="Open Sauce"/>
                <a:cs typeface="Open Sauce"/>
                <a:sym typeface="Open Sauce"/>
              </a:rPr>
              <a:t> </a:t>
            </a:r>
            <a:r>
              <a:rPr lang="en-US" sz="1577" spc="31" strike="noStrike" u="none">
                <a:solidFill>
                  <a:srgbClr val="000000"/>
                </a:solidFill>
                <a:latin typeface="Open Sauce"/>
                <a:ea typeface="Open Sauce"/>
                <a:cs typeface="Open Sauce"/>
                <a:sym typeface="Open Sauce"/>
              </a:rPr>
              <a:t>f</a:t>
            </a:r>
            <a:r>
              <a:rPr lang="en-US" sz="1577" spc="31" strike="noStrike" u="none">
                <a:solidFill>
                  <a:srgbClr val="000000"/>
                </a:solidFill>
                <a:latin typeface="Open Sauce"/>
                <a:ea typeface="Open Sauce"/>
                <a:cs typeface="Open Sauce"/>
                <a:sym typeface="Open Sauce"/>
              </a:rPr>
              <a:t>or Small</a:t>
            </a:r>
            <a:r>
              <a:rPr lang="en-US" sz="1577" spc="31" strike="noStrike" u="none">
                <a:solidFill>
                  <a:srgbClr val="000000"/>
                </a:solidFill>
                <a:latin typeface="Open Sauce"/>
                <a:ea typeface="Open Sauce"/>
                <a:cs typeface="Open Sauce"/>
                <a:sym typeface="Open Sauce"/>
              </a:rPr>
              <a:t> models</a:t>
            </a:r>
            <a:r>
              <a:rPr lang="en-US" sz="1577" spc="31" strike="noStrike" u="none">
                <a:solidFill>
                  <a:srgbClr val="000000"/>
                </a:solidFill>
                <a:latin typeface="Open Sauce"/>
                <a:ea typeface="Open Sauce"/>
                <a:cs typeface="Open Sauce"/>
                <a:sym typeface="Open Sauce"/>
              </a:rPr>
              <a:t>, mod</a:t>
            </a:r>
            <a:r>
              <a:rPr lang="en-US" sz="1577" spc="31" strike="noStrike" u="none">
                <a:solidFill>
                  <a:srgbClr val="000000"/>
                </a:solidFill>
                <a:latin typeface="Open Sauce"/>
                <a:ea typeface="Open Sauce"/>
                <a:cs typeface="Open Sauce"/>
                <a:sym typeface="Open Sauce"/>
              </a:rPr>
              <a:t>e</a:t>
            </a:r>
            <a:r>
              <a:rPr lang="en-US" sz="1577" spc="31" strike="noStrike" u="none">
                <a:solidFill>
                  <a:srgbClr val="000000"/>
                </a:solidFill>
                <a:latin typeface="Open Sauce"/>
                <a:ea typeface="Open Sauce"/>
                <a:cs typeface="Open Sauce"/>
                <a:sym typeface="Open Sauce"/>
              </a:rPr>
              <a:t>r</a:t>
            </a:r>
            <a:r>
              <a:rPr lang="en-US" sz="1577" spc="31" strike="noStrike" u="none">
                <a:solidFill>
                  <a:srgbClr val="000000"/>
                </a:solidFill>
                <a:latin typeface="Open Sauce"/>
                <a:ea typeface="Open Sauce"/>
                <a:cs typeface="Open Sauce"/>
                <a:sym typeface="Open Sauce"/>
              </a:rPr>
              <a:t>at</a:t>
            </a:r>
            <a:r>
              <a:rPr lang="en-US" sz="1577" spc="31" strike="noStrike" u="none">
                <a:solidFill>
                  <a:srgbClr val="000000"/>
                </a:solidFill>
                <a:latin typeface="Open Sauce"/>
                <a:ea typeface="Open Sauce"/>
                <a:cs typeface="Open Sauce"/>
                <a:sym typeface="Open Sauce"/>
              </a:rPr>
              <a:t>e </a:t>
            </a:r>
            <a:r>
              <a:rPr lang="en-US" sz="1577" spc="31" strike="noStrike" u="none">
                <a:solidFill>
                  <a:srgbClr val="000000"/>
                </a:solidFill>
                <a:latin typeface="Open Sauce"/>
                <a:ea typeface="Open Sauce"/>
                <a:cs typeface="Open Sauce"/>
                <a:sym typeface="Open Sauce"/>
              </a:rPr>
              <a:t>f</a:t>
            </a:r>
            <a:r>
              <a:rPr lang="en-US" sz="1577" spc="31" strike="noStrike" u="none">
                <a:solidFill>
                  <a:srgbClr val="000000"/>
                </a:solidFill>
                <a:latin typeface="Open Sauce"/>
                <a:ea typeface="Open Sauce"/>
                <a:cs typeface="Open Sauce"/>
                <a:sym typeface="Open Sauce"/>
              </a:rPr>
              <a:t>or Medium </a:t>
            </a:r>
            <a:r>
              <a:rPr lang="en-US" sz="1577" spc="31" strike="noStrike" u="none">
                <a:solidFill>
                  <a:srgbClr val="000000"/>
                </a:solidFill>
                <a:latin typeface="Open Sauce"/>
                <a:ea typeface="Open Sauce"/>
                <a:cs typeface="Open Sauce"/>
                <a:sym typeface="Open Sauce"/>
              </a:rPr>
              <a:t>mod</a:t>
            </a:r>
            <a:r>
              <a:rPr lang="en-US" sz="1577" spc="31" strike="noStrike" u="none">
                <a:solidFill>
                  <a:srgbClr val="000000"/>
                </a:solidFill>
                <a:latin typeface="Open Sauce"/>
                <a:ea typeface="Open Sauce"/>
                <a:cs typeface="Open Sauce"/>
                <a:sym typeface="Open Sauce"/>
              </a:rPr>
              <a:t>e</a:t>
            </a:r>
            <a:r>
              <a:rPr lang="en-US" sz="1577" spc="31" strike="noStrike" u="none">
                <a:solidFill>
                  <a:srgbClr val="000000"/>
                </a:solidFill>
                <a:latin typeface="Open Sauce"/>
                <a:ea typeface="Open Sauce"/>
                <a:cs typeface="Open Sauce"/>
                <a:sym typeface="Open Sauce"/>
              </a:rPr>
              <a:t>l</a:t>
            </a:r>
            <a:r>
              <a:rPr lang="en-US" sz="1577" spc="31" strike="noStrike" u="none">
                <a:solidFill>
                  <a:srgbClr val="000000"/>
                </a:solidFill>
                <a:latin typeface="Open Sauce"/>
                <a:ea typeface="Open Sauce"/>
                <a:cs typeface="Open Sauce"/>
                <a:sym typeface="Open Sauce"/>
              </a:rPr>
              <a:t>s</a:t>
            </a:r>
            <a:r>
              <a:rPr lang="en-US" sz="1577" spc="31" strike="noStrike" u="none">
                <a:solidFill>
                  <a:srgbClr val="000000"/>
                </a:solidFill>
                <a:latin typeface="Open Sauce"/>
                <a:ea typeface="Open Sauce"/>
                <a:cs typeface="Open Sauce"/>
                <a:sym typeface="Open Sauce"/>
              </a:rPr>
              <a:t>,</a:t>
            </a:r>
            <a:r>
              <a:rPr lang="en-US" sz="1577" spc="31" strike="noStrike" u="none">
                <a:solidFill>
                  <a:srgbClr val="000000"/>
                </a:solidFill>
                <a:latin typeface="Open Sauce"/>
                <a:ea typeface="Open Sauce"/>
                <a:cs typeface="Open Sauce"/>
                <a:sym typeface="Open Sauce"/>
              </a:rPr>
              <a:t> </a:t>
            </a:r>
            <a:r>
              <a:rPr lang="en-US" sz="1577" spc="31" strike="noStrike" u="none">
                <a:solidFill>
                  <a:srgbClr val="000000"/>
                </a:solidFill>
                <a:latin typeface="Open Sauce"/>
                <a:ea typeface="Open Sauce"/>
                <a:cs typeface="Open Sauce"/>
                <a:sym typeface="Open Sauce"/>
              </a:rPr>
              <a:t>and </a:t>
            </a:r>
            <a:r>
              <a:rPr lang="en-US" sz="1577" spc="31" strike="noStrike" u="none">
                <a:solidFill>
                  <a:srgbClr val="000000"/>
                </a:solidFill>
                <a:latin typeface="Open Sauce"/>
                <a:ea typeface="Open Sauce"/>
                <a:cs typeface="Open Sauce"/>
                <a:sym typeface="Open Sauce"/>
              </a:rPr>
              <a:t>ve</a:t>
            </a:r>
            <a:r>
              <a:rPr lang="en-US" sz="1577" spc="31" strike="noStrike" u="none">
                <a:solidFill>
                  <a:srgbClr val="000000"/>
                </a:solidFill>
                <a:latin typeface="Open Sauce"/>
                <a:ea typeface="Open Sauce"/>
                <a:cs typeface="Open Sauce"/>
                <a:sym typeface="Open Sauce"/>
              </a:rPr>
              <a:t>ry</a:t>
            </a:r>
            <a:r>
              <a:rPr lang="en-US" sz="1577" spc="31" strike="noStrike" u="none">
                <a:solidFill>
                  <a:srgbClr val="000000"/>
                </a:solidFill>
                <a:latin typeface="Open Sauce"/>
                <a:ea typeface="Open Sauce"/>
                <a:cs typeface="Open Sauce"/>
                <a:sym typeface="Open Sauce"/>
              </a:rPr>
              <a:t> </a:t>
            </a:r>
            <a:r>
              <a:rPr lang="en-US" sz="1577" spc="31" strike="noStrike" u="none">
                <a:solidFill>
                  <a:srgbClr val="000000"/>
                </a:solidFill>
                <a:latin typeface="Open Sauce"/>
                <a:ea typeface="Open Sauce"/>
                <a:cs typeface="Open Sauce"/>
                <a:sym typeface="Open Sauce"/>
              </a:rPr>
              <a:t>high f</a:t>
            </a:r>
            <a:r>
              <a:rPr lang="en-US" sz="1577" spc="31" strike="noStrike" u="none">
                <a:solidFill>
                  <a:srgbClr val="000000"/>
                </a:solidFill>
                <a:latin typeface="Open Sauce"/>
                <a:ea typeface="Open Sauce"/>
                <a:cs typeface="Open Sauce"/>
                <a:sym typeface="Open Sauce"/>
              </a:rPr>
              <a:t>or Large</a:t>
            </a:r>
            <a:r>
              <a:rPr lang="en-US" sz="1577" spc="31" strike="noStrike" u="none">
                <a:solidFill>
                  <a:srgbClr val="000000"/>
                </a:solidFill>
                <a:latin typeface="Open Sauce"/>
                <a:ea typeface="Open Sauce"/>
                <a:cs typeface="Open Sauce"/>
                <a:sym typeface="Open Sauce"/>
              </a:rPr>
              <a:t> models</a:t>
            </a:r>
            <a:r>
              <a:rPr lang="en-US" sz="1577" spc="31" strike="noStrike" u="none">
                <a:solidFill>
                  <a:srgbClr val="000000"/>
                </a:solidFill>
                <a:latin typeface="Open Sauce"/>
                <a:ea typeface="Open Sauce"/>
                <a:cs typeface="Open Sauce"/>
                <a:sym typeface="Open Sauce"/>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7644638"/>
            <a:ext cx="7879612" cy="2642362"/>
            <a:chOff x="0" y="0"/>
            <a:chExt cx="2665449" cy="893836"/>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665449" cy="893836"/>
            </a:xfrm>
            <a:custGeom>
              <a:avLst/>
              <a:gdLst/>
              <a:ahLst/>
              <a:cxnLst/>
              <a:rect r="r" b="b" t="t" l="l"/>
              <a:pathLst>
                <a:path h="893836" w="2665449">
                  <a:moveTo>
                    <a:pt x="0" y="0"/>
                  </a:moveTo>
                  <a:lnTo>
                    <a:pt x="2665449" y="0"/>
                  </a:lnTo>
                  <a:lnTo>
                    <a:pt x="2665449" y="893836"/>
                  </a:lnTo>
                  <a:lnTo>
                    <a:pt x="0" y="893836"/>
                  </a:lnTo>
                  <a:close/>
                </a:path>
              </a:pathLst>
            </a:custGeom>
            <a:solidFill>
              <a:srgbClr val="266041"/>
            </a:solidFill>
          </p:spPr>
        </p:sp>
      </p:grpSp>
      <p:sp>
        <p:nvSpPr>
          <p:cNvPr name="Freeform 4" id="4"/>
          <p:cNvSpPr/>
          <p:nvPr/>
        </p:nvSpPr>
        <p:spPr>
          <a:xfrm flipH="false" flipV="false" rot="0">
            <a:off x="1441819" y="483253"/>
            <a:ext cx="15404361" cy="7008984"/>
          </a:xfrm>
          <a:custGeom>
            <a:avLst/>
            <a:gdLst/>
            <a:ahLst/>
            <a:cxnLst/>
            <a:rect r="r" b="b" t="t" l="l"/>
            <a:pathLst>
              <a:path h="7008984" w="15404361">
                <a:moveTo>
                  <a:pt x="0" y="0"/>
                </a:moveTo>
                <a:lnTo>
                  <a:pt x="15404362" y="0"/>
                </a:lnTo>
                <a:lnTo>
                  <a:pt x="15404362" y="7008985"/>
                </a:lnTo>
                <a:lnTo>
                  <a:pt x="0" y="7008985"/>
                </a:lnTo>
                <a:lnTo>
                  <a:pt x="0" y="0"/>
                </a:lnTo>
                <a:close/>
              </a:path>
            </a:pathLst>
          </a:custGeom>
          <a:blipFill>
            <a:blip r:embed="rId2"/>
            <a:stretch>
              <a:fillRect l="0" t="0" r="0" b="0"/>
            </a:stretch>
          </a:blipFill>
        </p:spPr>
      </p:sp>
      <p:sp>
        <p:nvSpPr>
          <p:cNvPr name="TextBox 5" id="5"/>
          <p:cNvSpPr txBox="true"/>
          <p:nvPr/>
        </p:nvSpPr>
        <p:spPr>
          <a:xfrm rot="0">
            <a:off x="1684335" y="8606742"/>
            <a:ext cx="6785978" cy="1094757"/>
          </a:xfrm>
          <a:prstGeom prst="rect">
            <a:avLst/>
          </a:prstGeom>
        </p:spPr>
        <p:txBody>
          <a:bodyPr anchor="t" rtlCol="false" tIns="0" lIns="0" bIns="0" rIns="0">
            <a:spAutoFit/>
          </a:bodyPr>
          <a:lstStyle/>
          <a:p>
            <a:pPr algn="l">
              <a:lnSpc>
                <a:spcPts val="8960"/>
              </a:lnSpc>
            </a:pPr>
            <a:r>
              <a:rPr lang="en-US" sz="6400" b="true">
                <a:solidFill>
                  <a:srgbClr val="FFFFFF"/>
                </a:solidFill>
                <a:latin typeface="Open Sauce Bold"/>
                <a:ea typeface="Open Sauce Bold"/>
                <a:cs typeface="Open Sauce Bold"/>
                <a:sym typeface="Open Sauce Bold"/>
              </a:rPr>
              <a:t>Prioritizing</a:t>
            </a:r>
          </a:p>
        </p:txBody>
      </p:sp>
      <p:sp>
        <p:nvSpPr>
          <p:cNvPr name="TextBox 6" id="6"/>
          <p:cNvSpPr txBox="true"/>
          <p:nvPr/>
        </p:nvSpPr>
        <p:spPr>
          <a:xfrm rot="0">
            <a:off x="1684335" y="8158270"/>
            <a:ext cx="6785978" cy="481297"/>
          </a:xfrm>
          <a:prstGeom prst="rect">
            <a:avLst/>
          </a:prstGeom>
        </p:spPr>
        <p:txBody>
          <a:bodyPr anchor="t" rtlCol="false" tIns="0" lIns="0" bIns="0" rIns="0">
            <a:spAutoFit/>
          </a:bodyPr>
          <a:lstStyle/>
          <a:p>
            <a:pPr algn="l">
              <a:lnSpc>
                <a:spcPts val="3919"/>
              </a:lnSpc>
              <a:spcBef>
                <a:spcPct val="0"/>
              </a:spcBef>
            </a:pPr>
            <a:r>
              <a:rPr lang="en-US" sz="2800">
                <a:solidFill>
                  <a:srgbClr val="FFFFFF"/>
                </a:solidFill>
                <a:latin typeface="Open Sauce"/>
                <a:ea typeface="Open Sauce"/>
                <a:cs typeface="Open Sauce"/>
                <a:sym typeface="Open Sauce"/>
              </a:rPr>
              <a:t>Part 2:</a:t>
            </a:r>
          </a:p>
        </p:txBody>
      </p:sp>
      <p:sp>
        <p:nvSpPr>
          <p:cNvPr name="TextBox 7" id="7"/>
          <p:cNvSpPr txBox="true"/>
          <p:nvPr/>
        </p:nvSpPr>
        <p:spPr>
          <a:xfrm rot="0">
            <a:off x="9527360" y="8378159"/>
            <a:ext cx="8596189" cy="1323340"/>
          </a:xfrm>
          <a:prstGeom prst="rect">
            <a:avLst/>
          </a:prstGeom>
        </p:spPr>
        <p:txBody>
          <a:bodyPr anchor="t" rtlCol="false" tIns="0" lIns="0" bIns="0" rIns="0">
            <a:spAutoFit/>
          </a:bodyPr>
          <a:lstStyle/>
          <a:p>
            <a:pPr algn="l">
              <a:lnSpc>
                <a:spcPts val="2659"/>
              </a:lnSpc>
            </a:pPr>
            <a:r>
              <a:rPr lang="en-US" sz="1899" spc="37">
                <a:solidFill>
                  <a:srgbClr val="1A3B29"/>
                </a:solidFill>
                <a:latin typeface="Open Sauce"/>
                <a:ea typeface="Open Sauce"/>
                <a:cs typeface="Open Sauce"/>
                <a:sym typeface="Open Sauce"/>
              </a:rPr>
              <a:t>Th</a:t>
            </a:r>
            <a:r>
              <a:rPr lang="en-US" sz="1899" spc="37">
                <a:solidFill>
                  <a:srgbClr val="1A3B29"/>
                </a:solidFill>
                <a:latin typeface="Open Sauce"/>
                <a:ea typeface="Open Sauce"/>
                <a:cs typeface="Open Sauce"/>
                <a:sym typeface="Open Sauce"/>
              </a:rPr>
              <a:t>e visualization reveals that simple questions generate</a:t>
            </a:r>
            <a:r>
              <a:rPr lang="en-US" sz="1899" spc="37" u="none">
                <a:solidFill>
                  <a:srgbClr val="1A3B29"/>
                </a:solidFill>
                <a:latin typeface="Open Sauce"/>
                <a:ea typeface="Open Sauce"/>
                <a:cs typeface="Open Sauce"/>
                <a:sym typeface="Open Sauce"/>
              </a:rPr>
              <a:t> little carbon footprint and electricity consumption, while complex or multi-step questions lead to a significant increase in electricity consumption and CO₂ emissions, especially for large models.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190636"/>
            <a:ext cx="18477077" cy="3342771"/>
            <a:chOff x="0" y="0"/>
            <a:chExt cx="8493842" cy="1536659"/>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8493842" cy="1536659"/>
            </a:xfrm>
            <a:custGeom>
              <a:avLst/>
              <a:gdLst/>
              <a:ahLst/>
              <a:cxnLst/>
              <a:rect r="r" b="b" t="t" l="l"/>
              <a:pathLst>
                <a:path h="1536659" w="8493842">
                  <a:moveTo>
                    <a:pt x="0" y="0"/>
                  </a:moveTo>
                  <a:lnTo>
                    <a:pt x="8493842" y="0"/>
                  </a:lnTo>
                  <a:lnTo>
                    <a:pt x="8493842" y="1536659"/>
                  </a:lnTo>
                  <a:lnTo>
                    <a:pt x="0" y="1536659"/>
                  </a:lnTo>
                  <a:close/>
                </a:path>
              </a:pathLst>
            </a:custGeom>
            <a:solidFill>
              <a:srgbClr val="266041"/>
            </a:solidFill>
          </p:spPr>
        </p:sp>
      </p:grpSp>
      <p:sp>
        <p:nvSpPr>
          <p:cNvPr name="Freeform 4" id="4"/>
          <p:cNvSpPr/>
          <p:nvPr/>
        </p:nvSpPr>
        <p:spPr>
          <a:xfrm flipH="false" flipV="false" rot="0">
            <a:off x="470316" y="126745"/>
            <a:ext cx="17347368" cy="8044842"/>
          </a:xfrm>
          <a:custGeom>
            <a:avLst/>
            <a:gdLst/>
            <a:ahLst/>
            <a:cxnLst/>
            <a:rect r="r" b="b" t="t" l="l"/>
            <a:pathLst>
              <a:path h="8044842" w="17347368">
                <a:moveTo>
                  <a:pt x="0" y="0"/>
                </a:moveTo>
                <a:lnTo>
                  <a:pt x="17347368" y="0"/>
                </a:lnTo>
                <a:lnTo>
                  <a:pt x="17347368" y="8044841"/>
                </a:lnTo>
                <a:lnTo>
                  <a:pt x="0" y="8044841"/>
                </a:lnTo>
                <a:lnTo>
                  <a:pt x="0" y="0"/>
                </a:lnTo>
                <a:close/>
              </a:path>
            </a:pathLst>
          </a:custGeom>
          <a:blipFill>
            <a:blip r:embed="rId2"/>
            <a:stretch>
              <a:fillRect l="0" t="0" r="0" b="0"/>
            </a:stretch>
          </a:blipFill>
        </p:spPr>
      </p:sp>
      <p:sp>
        <p:nvSpPr>
          <p:cNvPr name="TextBox 5" id="5"/>
          <p:cNvSpPr txBox="true"/>
          <p:nvPr/>
        </p:nvSpPr>
        <p:spPr>
          <a:xfrm rot="0">
            <a:off x="722441" y="8351886"/>
            <a:ext cx="4993523" cy="350253"/>
          </a:xfrm>
          <a:prstGeom prst="rect">
            <a:avLst/>
          </a:prstGeom>
        </p:spPr>
        <p:txBody>
          <a:bodyPr anchor="t" rtlCol="false" tIns="0" lIns="0" bIns="0" rIns="0">
            <a:spAutoFit/>
          </a:bodyPr>
          <a:lstStyle/>
          <a:p>
            <a:pPr algn="l">
              <a:lnSpc>
                <a:spcPts val="2884"/>
              </a:lnSpc>
              <a:spcBef>
                <a:spcPct val="0"/>
              </a:spcBef>
            </a:pPr>
            <a:r>
              <a:rPr lang="en-US" sz="2060">
                <a:solidFill>
                  <a:srgbClr val="FFFFFF"/>
                </a:solidFill>
                <a:latin typeface="Open Sauce"/>
                <a:ea typeface="Open Sauce"/>
                <a:cs typeface="Open Sauce"/>
                <a:sym typeface="Open Sauce"/>
              </a:rPr>
              <a:t>View by model</a:t>
            </a:r>
          </a:p>
        </p:txBody>
      </p:sp>
      <p:sp>
        <p:nvSpPr>
          <p:cNvPr name="TextBox 6" id="6"/>
          <p:cNvSpPr txBox="true"/>
          <p:nvPr/>
        </p:nvSpPr>
        <p:spPr>
          <a:xfrm rot="0">
            <a:off x="722441" y="9220200"/>
            <a:ext cx="12967385" cy="274304"/>
          </a:xfrm>
          <a:prstGeom prst="rect">
            <a:avLst/>
          </a:prstGeom>
        </p:spPr>
        <p:txBody>
          <a:bodyPr anchor="t" rtlCol="false" tIns="0" lIns="0" bIns="0" rIns="0">
            <a:spAutoFit/>
          </a:bodyPr>
          <a:lstStyle/>
          <a:p>
            <a:pPr algn="l" marL="0" indent="0" lvl="0">
              <a:lnSpc>
                <a:spcPts val="2208"/>
              </a:lnSpc>
              <a:spcBef>
                <a:spcPct val="0"/>
              </a:spcBef>
            </a:pPr>
            <a:r>
              <a:rPr lang="en-US" sz="1577" spc="31">
                <a:solidFill>
                  <a:srgbClr val="FFFFFF"/>
                </a:solidFill>
                <a:latin typeface="Open Sauce"/>
                <a:ea typeface="Open Sauce"/>
                <a:cs typeface="Open Sauce"/>
                <a:sym typeface="Open Sauce"/>
              </a:rPr>
              <a:t>Here we can see the consumption  CO2 and electricity per model type.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73663" y="2939685"/>
            <a:ext cx="4919329" cy="1094784"/>
          </a:xfrm>
          <a:prstGeom prst="rect">
            <a:avLst/>
          </a:prstGeom>
        </p:spPr>
        <p:txBody>
          <a:bodyPr anchor="t" rtlCol="false" tIns="0" lIns="0" bIns="0" rIns="0">
            <a:spAutoFit/>
          </a:bodyPr>
          <a:lstStyle/>
          <a:p>
            <a:pPr algn="l">
              <a:lnSpc>
                <a:spcPts val="8960"/>
              </a:lnSpc>
            </a:pPr>
            <a:r>
              <a:rPr lang="en-US" sz="6400" b="true">
                <a:solidFill>
                  <a:srgbClr val="1A3B29"/>
                </a:solidFill>
                <a:latin typeface="Open Sauce Bold"/>
                <a:ea typeface="Open Sauce Bold"/>
                <a:cs typeface="Open Sauce Bold"/>
                <a:sym typeface="Open Sauce Bold"/>
              </a:rPr>
              <a:t>Conclusion</a:t>
            </a:r>
          </a:p>
        </p:txBody>
      </p:sp>
      <p:sp>
        <p:nvSpPr>
          <p:cNvPr name="TextBox 3" id="3"/>
          <p:cNvSpPr txBox="true"/>
          <p:nvPr/>
        </p:nvSpPr>
        <p:spPr>
          <a:xfrm rot="0">
            <a:off x="7236664" y="2927076"/>
            <a:ext cx="9626096" cy="2325106"/>
          </a:xfrm>
          <a:prstGeom prst="rect">
            <a:avLst/>
          </a:prstGeom>
        </p:spPr>
        <p:txBody>
          <a:bodyPr anchor="t" rtlCol="false" tIns="0" lIns="0" bIns="0" rIns="0">
            <a:spAutoFit/>
          </a:bodyPr>
          <a:lstStyle/>
          <a:p>
            <a:pPr algn="l">
              <a:lnSpc>
                <a:spcPts val="3079"/>
              </a:lnSpc>
            </a:pPr>
            <a:r>
              <a:rPr lang="en-US" sz="2199" spc="43">
                <a:solidFill>
                  <a:srgbClr val="1A3B29"/>
                </a:solidFill>
                <a:latin typeface="Open Sauce"/>
                <a:ea typeface="Open Sauce"/>
                <a:cs typeface="Open Sauce"/>
                <a:sym typeface="Open Sauce"/>
              </a:rPr>
              <a:t>This analysis highlights the relationship between language model</a:t>
            </a:r>
            <a:r>
              <a:rPr lang="en-US" sz="2199" spc="43" u="none">
                <a:solidFill>
                  <a:srgbClr val="1A3B29"/>
                </a:solidFill>
                <a:latin typeface="Open Sauce"/>
                <a:ea typeface="Open Sauce"/>
                <a:cs typeface="Open Sauce"/>
                <a:sym typeface="Open Sauce"/>
              </a:rPr>
              <a:t> performance and their environmental impact.</a:t>
            </a:r>
          </a:p>
          <a:p>
            <a:pPr algn="l">
              <a:lnSpc>
                <a:spcPts val="3079"/>
              </a:lnSpc>
            </a:pPr>
          </a:p>
          <a:p>
            <a:pPr algn="l">
              <a:lnSpc>
                <a:spcPts val="3079"/>
              </a:lnSpc>
            </a:pPr>
            <a:r>
              <a:rPr lang="en-US" sz="2199" spc="43" u="none">
                <a:solidFill>
                  <a:srgbClr val="1A3B29"/>
                </a:solidFill>
                <a:latin typeface="Open Sauce"/>
                <a:ea typeface="Open Sauce"/>
                <a:cs typeface="Open Sauce"/>
                <a:sym typeface="Open Sauce"/>
              </a:rPr>
              <a:t>The results show that Medium models offer the best balance between quality, execution speed, and carbon footprint, making them the optimal choice for most use cases. </a:t>
            </a:r>
          </a:p>
        </p:txBody>
      </p:sp>
      <p:sp>
        <p:nvSpPr>
          <p:cNvPr name="TextBox 4" id="4"/>
          <p:cNvSpPr txBox="true"/>
          <p:nvPr/>
        </p:nvSpPr>
        <p:spPr>
          <a:xfrm rot="0">
            <a:off x="7307406" y="6005976"/>
            <a:ext cx="9484612" cy="2715587"/>
          </a:xfrm>
          <a:prstGeom prst="rect">
            <a:avLst/>
          </a:prstGeom>
        </p:spPr>
        <p:txBody>
          <a:bodyPr anchor="t" rtlCol="false" tIns="0" lIns="0" bIns="0" rIns="0">
            <a:spAutoFit/>
          </a:bodyPr>
          <a:lstStyle/>
          <a:p>
            <a:pPr algn="l">
              <a:lnSpc>
                <a:spcPts val="3079"/>
              </a:lnSpc>
            </a:pPr>
            <a:r>
              <a:rPr lang="en-US" sz="2199" spc="43">
                <a:solidFill>
                  <a:srgbClr val="1A3B29"/>
                </a:solidFill>
                <a:latin typeface="Open Sauce"/>
                <a:ea typeface="Open Sauce"/>
                <a:cs typeface="Open Sauce"/>
                <a:sym typeface="Open Sauce"/>
              </a:rPr>
              <a:t>Conversely, Small</a:t>
            </a:r>
            <a:r>
              <a:rPr lang="en-US" sz="2199" spc="43">
                <a:solidFill>
                  <a:srgbClr val="1A3B29"/>
                </a:solidFill>
                <a:latin typeface="Open Sauce"/>
                <a:ea typeface="Open Sauce"/>
                <a:cs typeface="Open Sauce"/>
                <a:sym typeface="Open Sauce"/>
              </a:rPr>
              <a:t> models are distinguished by their energy efficiency, a</a:t>
            </a:r>
            <a:r>
              <a:rPr lang="en-US" sz="2199" spc="43" u="none">
                <a:solidFill>
                  <a:srgbClr val="1A3B29"/>
                </a:solidFill>
                <a:latin typeface="Open Sauce"/>
                <a:ea typeface="Open Sauce"/>
                <a:cs typeface="Open Sauce"/>
                <a:sym typeface="Open Sauce"/>
              </a:rPr>
              <a:t>lthough they may have certain limitations in terms of accuracy on complex tasks.</a:t>
            </a:r>
          </a:p>
          <a:p>
            <a:pPr algn="l">
              <a:lnSpc>
                <a:spcPts val="3079"/>
              </a:lnSpc>
            </a:pPr>
          </a:p>
          <a:p>
            <a:pPr algn="l">
              <a:lnSpc>
                <a:spcPts val="3079"/>
              </a:lnSpc>
            </a:pPr>
            <a:r>
              <a:rPr lang="en-US" sz="2199" spc="43" u="none">
                <a:solidFill>
                  <a:srgbClr val="1A3B29"/>
                </a:solidFill>
                <a:latin typeface="Open Sauce"/>
                <a:ea typeface="Open Sauce"/>
                <a:cs typeface="Open Sauce"/>
                <a:sym typeface="Open Sauce"/>
              </a:rPr>
              <a:t>F</a:t>
            </a:r>
            <a:r>
              <a:rPr lang="en-US" sz="2199" spc="43" u="none">
                <a:solidFill>
                  <a:srgbClr val="1A3B29"/>
                </a:solidFill>
                <a:latin typeface="Open Sauce"/>
                <a:ea typeface="Open Sauce"/>
                <a:cs typeface="Open Sauce"/>
                <a:sym typeface="Open Sauce"/>
              </a:rPr>
              <a:t>inally, Large models, although powerful and effective on advanced issues, have a particularly high ecological cost, which raises questions about their relevance for everyday use.</a:t>
            </a:r>
          </a:p>
        </p:txBody>
      </p:sp>
      <p:sp>
        <p:nvSpPr>
          <p:cNvPr name="AutoShape 5" id="5">
            <a:extLst>
              <a:ext uri="{C183D7F6-B498-43B3-948B-1728B52AA6E4}">
                <adec:decorative xmlns:adec="http://schemas.microsoft.com/office/drawing/2017/decorative" val="1"/>
              </a:ext>
            </a:extLst>
          </p:cNvPr>
          <p:cNvSpPr/>
          <p:nvPr/>
        </p:nvSpPr>
        <p:spPr>
          <a:xfrm>
            <a:off x="7307406" y="5495113"/>
            <a:ext cx="9484612" cy="0"/>
          </a:xfrm>
          <a:prstGeom prst="line">
            <a:avLst/>
          </a:prstGeom>
          <a:ln cap="rnd" w="47625">
            <a:solidFill>
              <a:srgbClr val="266041"/>
            </a:solidFill>
            <a:prstDash val="solid"/>
            <a:headEnd type="none" len="sm" w="sm"/>
            <a:tailEnd type="none" len="sm" w="sm"/>
          </a:ln>
        </p:spPr>
      </p:sp>
      <p:grpSp>
        <p:nvGrpSpPr>
          <p:cNvPr name="Group 6" id="6"/>
          <p:cNvGrpSpPr/>
          <p:nvPr/>
        </p:nvGrpSpPr>
        <p:grpSpPr>
          <a:xfrm rot="0">
            <a:off x="1773663" y="1028700"/>
            <a:ext cx="3509173" cy="744963"/>
            <a:chOff x="0" y="0"/>
            <a:chExt cx="4678897" cy="993284"/>
          </a:xfrm>
        </p:grpSpPr>
        <p:sp>
          <p:nvSpPr>
            <p:cNvPr name="Freeform 7" id="7"/>
            <p:cNvSpPr/>
            <p:nvPr/>
          </p:nvSpPr>
          <p:spPr>
            <a:xfrm flipH="false" flipV="false" rot="0">
              <a:off x="0" y="0"/>
              <a:ext cx="993284" cy="993284"/>
            </a:xfrm>
            <a:custGeom>
              <a:avLst/>
              <a:gdLst/>
              <a:ahLst/>
              <a:cxnLst/>
              <a:rect r="r" b="b" t="t" l="l"/>
              <a:pathLst>
                <a:path h="993284" w="993284">
                  <a:moveTo>
                    <a:pt x="0" y="0"/>
                  </a:moveTo>
                  <a:lnTo>
                    <a:pt x="993284" y="0"/>
                  </a:lnTo>
                  <a:lnTo>
                    <a:pt x="993284" y="993284"/>
                  </a:lnTo>
                  <a:lnTo>
                    <a:pt x="0" y="9932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211579" y="244504"/>
              <a:ext cx="3467318" cy="547100"/>
            </a:xfrm>
            <a:prstGeom prst="rect">
              <a:avLst/>
            </a:prstGeom>
          </p:spPr>
          <p:txBody>
            <a:bodyPr anchor="t" rtlCol="false" tIns="0" lIns="0" bIns="0" rIns="0">
              <a:spAutoFit/>
            </a:bodyPr>
            <a:lstStyle/>
            <a:p>
              <a:pPr algn="l">
                <a:lnSpc>
                  <a:spcPts val="3500"/>
                </a:lnSpc>
              </a:pPr>
              <a:r>
                <a:rPr lang="en-US" sz="2500">
                  <a:solidFill>
                    <a:srgbClr val="272626"/>
                  </a:solidFill>
                  <a:latin typeface="Open Sauce"/>
                  <a:ea typeface="Open Sauce"/>
                  <a:cs typeface="Open Sauce"/>
                  <a:sym typeface="Open Sauce"/>
                </a:rPr>
                <a:t>Green IT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DAG3VTik_RQ</dc:identifier>
  <dcterms:modified xsi:type="dcterms:W3CDTF">2011-08-01T06:04:30Z</dcterms:modified>
  <cp:revision>1</cp:revision>
  <dc:title>Elseline ZONON</dc:title>
</cp:coreProperties>
</file>